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29269-B242-4DA9-99D3-00C48E0E375F}" v="3" dt="2025-11-04T02:42:33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thi Darshini" userId="2988670f230b1ba0" providerId="LiveId" clId="{6BE2C3ED-F96F-499D-AC36-4081C09B851B}"/>
    <pc:docChg chg="modSld">
      <pc:chgData name="sakthi Darshini" userId="2988670f230b1ba0" providerId="LiveId" clId="{6BE2C3ED-F96F-499D-AC36-4081C09B851B}" dt="2025-11-04T03:08:18.242" v="3" actId="20577"/>
      <pc:docMkLst>
        <pc:docMk/>
      </pc:docMkLst>
      <pc:sldChg chg="modSp mod">
        <pc:chgData name="sakthi Darshini" userId="2988670f230b1ba0" providerId="LiveId" clId="{6BE2C3ED-F96F-499D-AC36-4081C09B851B}" dt="2025-11-04T03:08:18.242" v="3" actId="20577"/>
        <pc:sldMkLst>
          <pc:docMk/>
          <pc:sldMk cId="2023340140" sldId="260"/>
        </pc:sldMkLst>
        <pc:spChg chg="mod">
          <ac:chgData name="sakthi Darshini" userId="2988670f230b1ba0" providerId="LiveId" clId="{6BE2C3ED-F96F-499D-AC36-4081C09B851B}" dt="2025-11-04T03:08:18.242" v="3" actId="20577"/>
          <ac:spMkLst>
            <pc:docMk/>
            <pc:sldMk cId="2023340140" sldId="260"/>
            <ac:spMk id="3" creationId="{F75749F9-1229-18C6-08BF-FDAE3370C19E}"/>
          </ac:spMkLst>
        </pc:spChg>
      </pc:sldChg>
      <pc:sldChg chg="modSp">
        <pc:chgData name="sakthi Darshini" userId="2988670f230b1ba0" providerId="LiveId" clId="{6BE2C3ED-F96F-499D-AC36-4081C09B851B}" dt="2025-11-04T02:42:33.536" v="2" actId="20578"/>
        <pc:sldMkLst>
          <pc:docMk/>
          <pc:sldMk cId="288188279" sldId="266"/>
        </pc:sldMkLst>
        <pc:spChg chg="mod">
          <ac:chgData name="sakthi Darshini" userId="2988670f230b1ba0" providerId="LiveId" clId="{6BE2C3ED-F96F-499D-AC36-4081C09B851B}" dt="2025-11-04T02:42:33.536" v="2" actId="20578"/>
          <ac:spMkLst>
            <pc:docMk/>
            <pc:sldMk cId="288188279" sldId="266"/>
            <ac:spMk id="4" creationId="{1E5B1D55-4B09-FFB6-034D-147B52B0F7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5D568-5AFD-4DEC-A5DE-BB63F1BCC46C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9B732-FAA5-4387-85DB-FF2A0E7844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6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F9B732-FAA5-4387-85DB-FF2A0E7844A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62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709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1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816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09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8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88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4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7482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414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7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9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144D7AE-2EA3-437A-BA47-E960FCC4241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D87F9BF-05F2-48FE-80FF-CE9B87BBCA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30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B998E-84DC-F0AE-1599-6BC1C9C2C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1865121"/>
            <a:ext cx="9068586" cy="2590800"/>
          </a:xfrm>
        </p:spPr>
        <p:txBody>
          <a:bodyPr/>
          <a:lstStyle/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lotus effect facade coatings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sakthi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Darshini.v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 : 192512024 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2560E-1183-C855-0758-E73BA5CA6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316361"/>
            <a:ext cx="9068192" cy="111104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BTA0179 BIOLOGY AND ENVIRONMENTAL SCIENCE FOR ENGINEERS </a:t>
            </a:r>
          </a:p>
        </p:txBody>
      </p:sp>
    </p:spTree>
    <p:extLst>
      <p:ext uri="{BB962C8B-B14F-4D97-AF65-F5344CB8AC3E}">
        <p14:creationId xmlns:p14="http://schemas.microsoft.com/office/powerpoint/2010/main" val="278476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2B1F0-4B55-1C08-E213-8CA17C2B6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D6E91-08E4-FC93-0343-2F54D36A0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20" y="1769806"/>
            <a:ext cx="10795820" cy="489646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has many self-cleaning surfaces — the best example is the lotus leaf.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Effect refers to the leaf’s ability to repel water and dirt, staying clean even in muddy water.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 Corp developed Lotus-Effect coatings for building facades, inspired by this property.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coatings make surfaces superhydrophobic and low maintenance.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36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EC04-A42B-EE99-B15A-32D6D2BA7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393290"/>
            <a:ext cx="9950245" cy="127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18370-3926-51C5-D9A5-2F7D20127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7" y="1671484"/>
            <a:ext cx="10397613" cy="4274630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and demonstrate the Lotus Effect.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a hydrophobic coating for building surfaces.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plain vs. coated surfaces using contact angle measurement.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biomimicry and nanotechnology are used in real-life applications.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5DD3A-7C5D-6C3F-A001-C4115C9DEB7C}"/>
              </a:ext>
            </a:extLst>
          </p:cNvPr>
          <p:cNvSpPr txBox="1"/>
          <p:nvPr/>
        </p:nvSpPr>
        <p:spPr>
          <a:xfrm>
            <a:off x="2084439" y="2103120"/>
            <a:ext cx="7846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 descr="A close up of a leaf with water droplets&#10;&#10;AI-generated content may be incorrect.">
            <a:extLst>
              <a:ext uri="{FF2B5EF4-FFF2-40B4-BE49-F238E27FC236}">
                <a16:creationId xmlns:a16="http://schemas.microsoft.com/office/drawing/2014/main" id="{1D8A5DDF-63AA-E6ED-86A9-BD2C44D23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103" y="3907121"/>
            <a:ext cx="5097103" cy="230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5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9F4C-499A-8097-D8D3-23517A94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6" y="671052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LOTUS EFFECT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B7DD-25F6-F3E5-B997-2124A4D2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1356852"/>
            <a:ext cx="10269794" cy="467818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leaf surface has microscopic bumps (micro/nano structures).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covered with a waxy layer that repels water.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water falls, it forms round droplets that roll off easily.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droplets roll, they pick up dirt particles, creating a self-cleaning effect.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-up of a plant&#10;&#10;AI-generated content may be incorrect.">
            <a:extLst>
              <a:ext uri="{FF2B5EF4-FFF2-40B4-BE49-F238E27FC236}">
                <a16:creationId xmlns:a16="http://schemas.microsoft.com/office/drawing/2014/main" id="{8181CBA4-729F-C86C-806E-67E2AFE67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337" y="3844412"/>
            <a:ext cx="4414683" cy="276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0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B421-10E3-22A9-FB6F-780472CD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265471"/>
            <a:ext cx="10387781" cy="133718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&amp;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749F9-1229-18C6-08BF-FDAE3370C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19" y="1317523"/>
            <a:ext cx="10471355" cy="5275006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property behind this is super hydrophobicity.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surface is called superhydrophobic when the contact angle &gt;150°.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key factors: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Surface roughness (micro/nano texture)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Low surface energy (due to wax or fluoropolymers)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Combined, they cause non-wettability and self-cleaning action.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surface that is being produced&#10;&#10;AI-generated content may be incorrect.">
            <a:extLst>
              <a:ext uri="{FF2B5EF4-FFF2-40B4-BE49-F238E27FC236}">
                <a16:creationId xmlns:a16="http://schemas.microsoft.com/office/drawing/2014/main" id="{37A3BE5A-6A9B-295C-F0F9-022F38A0F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238" y="4576915"/>
            <a:ext cx="5683045" cy="192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4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7839-CF77-B742-32BD-367F80AE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019" y="275304"/>
            <a:ext cx="10058400" cy="94389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8152-74BC-5101-85FD-D545075D4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1219199"/>
            <a:ext cx="10643419" cy="53634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paper, glass tile/acrylic piece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Candle or wax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dropper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protractor (to measure contact angle)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Hydrophobic spray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Prepare two surfaces – one plain, one coated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Drop water on both.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Observe droplet behavior.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Measure contact angle and record observations.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54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7413-6C12-95F0-2DAA-D537F8A7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6" y="373626"/>
            <a:ext cx="10087897" cy="75708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BBF26-434B-EBB8-0602-CDEA4883B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85" y="1247222"/>
            <a:ext cx="10476271" cy="4363556"/>
          </a:xfrm>
        </p:spPr>
        <p:txBody>
          <a:bodyPr>
            <a:normAutofit/>
          </a:bodyPr>
          <a:lstStyle/>
          <a:p>
            <a:pPr marL="2271400" lvl="8" indent="0">
              <a:buNone/>
            </a:pPr>
            <a:endParaRPr lang="en-US" dirty="0"/>
          </a:p>
          <a:p>
            <a:pPr marL="2271400" lvl="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1400" lvl="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1400" lvl="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1400" lvl="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208AE4-3337-6931-A9E1-5B5B5BD87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073852"/>
              </p:ext>
            </p:extLst>
          </p:nvPr>
        </p:nvGraphicFramePr>
        <p:xfrm>
          <a:off x="717756" y="1386348"/>
          <a:ext cx="9143998" cy="2268388"/>
        </p:xfrm>
        <a:graphic>
          <a:graphicData uri="http://schemas.openxmlformats.org/drawingml/2006/table">
            <a:tbl>
              <a:tblPr firstRow="1" bandRow="1">
                <a:tableStyleId>{775DCB02-9BB8-47FD-8907-85C794F793BA}</a:tableStyleId>
              </a:tblPr>
              <a:tblGrid>
                <a:gridCol w="2422960">
                  <a:extLst>
                    <a:ext uri="{9D8B030D-6E8A-4147-A177-3AD203B41FA5}">
                      <a16:colId xmlns:a16="http://schemas.microsoft.com/office/drawing/2014/main" val="795157953"/>
                    </a:ext>
                  </a:extLst>
                </a:gridCol>
                <a:gridCol w="2160579">
                  <a:extLst>
                    <a:ext uri="{9D8B030D-6E8A-4147-A177-3AD203B41FA5}">
                      <a16:colId xmlns:a16="http://schemas.microsoft.com/office/drawing/2014/main" val="960118913"/>
                    </a:ext>
                  </a:extLst>
                </a:gridCol>
                <a:gridCol w="1979031">
                  <a:extLst>
                    <a:ext uri="{9D8B030D-6E8A-4147-A177-3AD203B41FA5}">
                      <a16:colId xmlns:a16="http://schemas.microsoft.com/office/drawing/2014/main" val="3907191362"/>
                    </a:ext>
                  </a:extLst>
                </a:gridCol>
                <a:gridCol w="2581428">
                  <a:extLst>
                    <a:ext uri="{9D8B030D-6E8A-4147-A177-3AD203B41FA5}">
                      <a16:colId xmlns:a16="http://schemas.microsoft.com/office/drawing/2014/main" val="1937226436"/>
                    </a:ext>
                  </a:extLst>
                </a:gridCol>
              </a:tblGrid>
              <a:tr h="74716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075595"/>
                  </a:ext>
                </a:extLst>
              </a:tr>
              <a:tr h="717569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spreads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hydrophillic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200488"/>
                  </a:ext>
                </a:extLst>
              </a:tr>
              <a:tr h="727859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Coated surface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rolls 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superhydrophobic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007230"/>
                  </a:ext>
                </a:extLst>
              </a:tr>
            </a:tbl>
          </a:graphicData>
        </a:graphic>
      </p:graphicFrame>
      <p:pic>
        <p:nvPicPr>
          <p:cNvPr id="10" name="Picture 9" descr="A close-up of water drops&#10;&#10;AI-generated content may be incorrect.">
            <a:extLst>
              <a:ext uri="{FF2B5EF4-FFF2-40B4-BE49-F238E27FC236}">
                <a16:creationId xmlns:a16="http://schemas.microsoft.com/office/drawing/2014/main" id="{477051A9-F11C-8A79-46CA-C4550EA56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0" y="4123204"/>
            <a:ext cx="5683044" cy="236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59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F504-06AD-2D2B-3F27-024A1087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C83D-DFA6-2FCE-34CE-35CAFBCD2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82994"/>
            <a:ext cx="10058400" cy="44520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and glass facades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windshields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Textiles and paints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Tiles and ceramics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Outdoor advertisements and signs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ose up of a solar panel&#10;&#10;AI-generated content may be incorrect.">
            <a:extLst>
              <a:ext uri="{FF2B5EF4-FFF2-40B4-BE49-F238E27FC236}">
                <a16:creationId xmlns:a16="http://schemas.microsoft.com/office/drawing/2014/main" id="{96E152AA-1094-79DC-9D31-31B0AA0CA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135" y="1779639"/>
            <a:ext cx="5152102" cy="319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32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8AFB-7AEB-75B6-706E-377872A5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4632"/>
            <a:ext cx="10058400" cy="13765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10F60-7A7D-81FA-9839-9C585557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813" y="1788488"/>
            <a:ext cx="10058400" cy="442691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Self-cleaning and low maintenance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and dust repellent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Long-lasting, UV resistant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cleaning cost</a:t>
            </a:r>
          </a:p>
          <a:p>
            <a:pPr marL="0" indent="0">
              <a:buNone/>
            </a:pP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coating materials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Skilled application required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reduces</a:t>
            </a:r>
            <a:r>
              <a:rPr lang="en-US" sz="1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time with wear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3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095A-01F0-3D2C-84CE-1623F26D8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A0B15-FEA3-7A97-435E-7F3BBDAF8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309" y="1720646"/>
            <a:ext cx="10058400" cy="3352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Lotus Effect demonstrates how nature inspires modern technology.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 Corp’s coating replicates this effect to make facades self-cleaning and durable.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proved that superhydrophobic coatings can significantly reduce maintenance and improve building aesthetics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58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EFB2-763C-8D6E-B24D-4D382F06A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6" y="642593"/>
            <a:ext cx="10407444" cy="96989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9A82-3DA3-87BA-3582-20E0B70E5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409" y="1562717"/>
            <a:ext cx="10058400" cy="4788310"/>
          </a:xfrm>
        </p:spPr>
        <p:txBody>
          <a:bodyPr>
            <a:normAutofit fontScale="85000" lnSpcReduction="10000"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ASTM D7334 – Contact Angle Measurement</a:t>
            </a:r>
            <a:b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the hydrophobicity of coated surfaces.</a:t>
            </a:r>
            <a:b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confirms the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Lotus Effect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ensuring the contact angle is above 150° (superhydrophobic surface).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2409 – Cross-Cut Adhesion Test</a:t>
            </a:r>
            <a:b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strong bonding of the coating to building surfaces like glass, tiles, or masonry.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ASTM D6578 – Cleanability of Coated Surfaces</a:t>
            </a:r>
            <a:b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how easily dirt or dust can be removed, proving the </a:t>
            </a:r>
            <a:r>
              <a:rPr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self-cleaning property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9227 – Salt Spray Test</a:t>
            </a:r>
            <a:b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the coating’s durability and resistance to corrosion and weathering in outdoor environments.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 14001 – Environmental Management Standard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coating process is eco-friendly, safe, and meets environmental protection requirements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5B1D55-4B09-FFB6-034D-147B52B0F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6" y="-2229437"/>
            <a:ext cx="10655706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8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2F4C-FDE6-BC84-BE78-F313AE1B4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418E5-6548-6F31-DFBC-D87CE167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18968"/>
            <a:ext cx="10058400" cy="421607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Barthlott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W., &amp;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Neinhuis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(1997). Purity of the Sacred Lotus – Self-Cleaning Properties of Biological Surfaces. Planta, 202, 1–8.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Nosonovsky, M., &amp; Bhushan, B. (2009). Superhydrophobic Surfaces and Emerging Applications. Springer.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 Corp. (2024).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Lotusan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Self-Cleaning Facade Coating Technical Data Sheet. Retrieved from www.stocorp.com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Zhang, X., Shi, F., &amp; Noga, K. (2016). Design of Superhydrophobic Surfaces for Architectural Applications. Surface Engineering Journal, 32(4), 221–233.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ASTM D7334-08 (2013). Standard Practice for Contact Angle Measurement. ASTM International.</a:t>
            </a:r>
          </a:p>
          <a:p>
            <a:pPr marL="0" indent="0">
              <a:buNone/>
            </a:pP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521270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hank you ribbon with text&#10;&#10;AI-generated content may be incorrect.">
            <a:extLst>
              <a:ext uri="{FF2B5EF4-FFF2-40B4-BE49-F238E27FC236}">
                <a16:creationId xmlns:a16="http://schemas.microsoft.com/office/drawing/2014/main" id="{521AC09F-A1EC-FC75-A189-1F9295C31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417" y="1255580"/>
            <a:ext cx="6277279" cy="400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92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149</TotalTime>
  <Words>679</Words>
  <Application>Microsoft Office PowerPoint</Application>
  <PresentationFormat>Widescreen</PresentationFormat>
  <Paragraphs>113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Century Gothic</vt:lpstr>
      <vt:lpstr>Courier New</vt:lpstr>
      <vt:lpstr>Garamond</vt:lpstr>
      <vt:lpstr>Times New Roman</vt:lpstr>
      <vt:lpstr>Savon</vt:lpstr>
      <vt:lpstr>StO corp- lotus effect facade coatings   Name : sakthi Darshini.v  register no : 192512024    </vt:lpstr>
      <vt:lpstr>INTRODUCTION</vt:lpstr>
      <vt:lpstr>OBJECTIVE</vt:lpstr>
      <vt:lpstr>CONCEPT OF LOTUS EFFECT </vt:lpstr>
      <vt:lpstr>PRINCIPLE &amp; MECHANISM</vt:lpstr>
      <vt:lpstr>MATERIALS AND METHODOLOGY</vt:lpstr>
      <vt:lpstr>OBSERVATION AND RESULT </vt:lpstr>
      <vt:lpstr>APPLICATIONS</vt:lpstr>
      <vt:lpstr>ADVANTAGES AND LIMITATION</vt:lpstr>
      <vt:lpstr>CONCLUSION</vt:lpstr>
      <vt:lpstr>ENGINEERING STANDARDS</vt:lpstr>
      <vt:lpstr>REFRENCES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 Darshini</dc:creator>
  <cp:lastModifiedBy>sakthi Darshini</cp:lastModifiedBy>
  <cp:revision>8</cp:revision>
  <dcterms:created xsi:type="dcterms:W3CDTF">2025-10-30T15:49:33Z</dcterms:created>
  <dcterms:modified xsi:type="dcterms:W3CDTF">2025-11-10T02:09:02Z</dcterms:modified>
</cp:coreProperties>
</file>